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8" r:id="rId4"/>
    <p:sldId id="270" r:id="rId5"/>
    <p:sldId id="271" r:id="rId6"/>
    <p:sldId id="272" r:id="rId7"/>
    <p:sldId id="273" r:id="rId8"/>
    <p:sldId id="261" r:id="rId9"/>
    <p:sldId id="264" r:id="rId10"/>
    <p:sldId id="275" r:id="rId11"/>
    <p:sldId id="265" r:id="rId12"/>
    <p:sldId id="276" r:id="rId13"/>
    <p:sldId id="266" r:id="rId14"/>
    <p:sldId id="267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70" d="100"/>
          <a:sy n="70" d="100"/>
        </p:scale>
        <p:origin x="81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C7351-0BD4-4424-BE0B-49F57D772298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FC86C-DF2B-48BF-860F-19177FA52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6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FC86C-DF2B-48BF-860F-19177FA5214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69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55455" y="1648212"/>
            <a:ext cx="877708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5579" cy="2162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55925" y="1648212"/>
            <a:ext cx="1157614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4538" y="3563365"/>
            <a:ext cx="14790419" cy="231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62725"/>
            <a:ext cx="18287999" cy="3724274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2971800" y="3543300"/>
            <a:ext cx="13944600" cy="38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IN" sz="6000" spc="-135" dirty="0" err="1">
                <a:solidFill>
                  <a:srgbClr val="FFFF00"/>
                </a:solidFill>
                <a:latin typeface="Kristen ITC" panose="03050502040202030202" pitchFamily="66" charset="0"/>
                <a:cs typeface="Lucida Sans Unicode"/>
              </a:rPr>
              <a:t>FIX</a:t>
            </a:r>
            <a:r>
              <a:rPr lang="en-IN" sz="6000" spc="-135" dirty="0" err="1">
                <a:solidFill>
                  <a:srgbClr val="FFFF00"/>
                </a:solidFill>
                <a:latin typeface="Kristen ITC" panose="03050502040202030202" pitchFamily="66" charset="0"/>
                <a:cs typeface="Lucida Sans Unicode"/>
                <a:sym typeface="Wingdings" panose="05000000000000000000" pitchFamily="2" charset="2"/>
              </a:rPr>
              <a:t>o</a:t>
            </a:r>
            <a:r>
              <a:rPr lang="en-IN" sz="6000" spc="-135" dirty="0" err="1">
                <a:solidFill>
                  <a:srgbClr val="FFFF00"/>
                </a:solidFill>
                <a:latin typeface="Kristen ITC" panose="03050502040202030202" pitchFamily="66" charset="0"/>
                <a:cs typeface="Lucida Sans Unicode"/>
              </a:rPr>
              <a:t>ra</a:t>
            </a:r>
            <a:r>
              <a:rPr lang="en-IN" sz="6000" spc="-135" dirty="0">
                <a:solidFill>
                  <a:srgbClr val="FFFFFF"/>
                </a:solidFill>
                <a:latin typeface="Kristen ITC" panose="03050502040202030202" pitchFamily="66" charset="0"/>
                <a:cs typeface="Lucida Sans Unicode"/>
              </a:rPr>
              <a:t>-</a:t>
            </a:r>
            <a:r>
              <a:rPr lang="en-IN" sz="6000" spc="-135" dirty="0">
                <a:solidFill>
                  <a:schemeClr val="bg1"/>
                </a:solidFill>
                <a:latin typeface="Kristen ITC" panose="03050502040202030202" pitchFamily="66" charset="0"/>
                <a:cs typeface="Lucida Sans Unicode"/>
              </a:rPr>
              <a:t>Sorting, not ignoring </a:t>
            </a:r>
            <a:br>
              <a:rPr lang="en-IN" sz="6000" spc="-135" dirty="0">
                <a:solidFill>
                  <a:srgbClr val="FFFF00"/>
                </a:solidFill>
                <a:latin typeface="Lucida Sans Unicode"/>
                <a:cs typeface="Lucida Sans Unicode"/>
                <a:sym typeface="Wingdings" panose="05000000000000000000" pitchFamily="2" charset="2"/>
              </a:rPr>
            </a:br>
            <a:r>
              <a:rPr lang="en-IN" sz="6000" spc="-135" dirty="0">
                <a:solidFill>
                  <a:srgbClr val="FFFF00"/>
                </a:solidFill>
                <a:latin typeface="Lucida Sans Unicode"/>
                <a:cs typeface="Lucida Sans Unicode"/>
                <a:sym typeface="Wingdings" panose="05000000000000000000" pitchFamily="2" charset="2"/>
              </a:rPr>
              <a:t>     						</a:t>
            </a:r>
            <a:r>
              <a:rPr lang="en-IN" sz="2400" b="1" i="1" spc="-135" dirty="0">
                <a:solidFill>
                  <a:srgbClr val="FFFF00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Lucida Sans Unicode"/>
                <a:sym typeface="Wingdings" panose="05000000000000000000" pitchFamily="2" charset="2"/>
              </a:rPr>
              <a:t>S</a:t>
            </a:r>
            <a:r>
              <a:rPr lang="en-IN" sz="2800" b="1" i="1" spc="-135" dirty="0">
                <a:solidFill>
                  <a:srgbClr val="FFFF00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Lucida Sans Unicode"/>
                <a:sym typeface="Wingdings" panose="05000000000000000000" pitchFamily="2" charset="2"/>
              </a:rPr>
              <a:t>olutions to your all the problems ,at a single platform</a:t>
            </a:r>
            <a:r>
              <a:rPr lang="en-IN" sz="6000" spc="-135" dirty="0">
                <a:solidFill>
                  <a:srgbClr val="FFFF00"/>
                </a:solidFill>
                <a:latin typeface="Lucida Sans Unicode"/>
                <a:cs typeface="Lucida Sans Unicode"/>
                <a:sym typeface="Wingdings" panose="05000000000000000000" pitchFamily="2" charset="2"/>
              </a:rPr>
              <a:t>	</a:t>
            </a:r>
            <a:r>
              <a:rPr lang="en-IN" sz="6000" dirty="0"/>
              <a:t>The all-in-one platform </a:t>
            </a:r>
            <a:r>
              <a:rPr lang="en-IN" sz="6000" dirty="0" err="1"/>
              <a:t>desig</a:t>
            </a:r>
            <a:endParaRPr lang="en-IN" sz="6000" spc="-135" dirty="0">
              <a:solidFill>
                <a:srgbClr val="FFFF00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IN" sz="66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			</a:t>
            </a:r>
            <a:endParaRPr sz="66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70889" y="7581900"/>
            <a:ext cx="867259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Lucida Sans Unicode"/>
                <a:cs typeface="Lucida Sans Unicode"/>
              </a:rPr>
              <a:t>Proposed</a:t>
            </a:r>
            <a:r>
              <a:rPr sz="3600" b="1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600" b="1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3600" b="1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6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sz="3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en-IN" sz="3600" b="1" spc="-55" dirty="0">
                <a:solidFill>
                  <a:srgbClr val="FFFF00"/>
                </a:solidFill>
                <a:latin typeface="Lucida Sans Unicode"/>
                <a:cs typeface="Lucida Sans Unicode"/>
              </a:rPr>
              <a:t>TEAM CODE QUEST</a:t>
            </a:r>
            <a:endParaRPr sz="3600" b="1" dirty="0">
              <a:solidFill>
                <a:srgbClr val="FFFF00"/>
              </a:solidFill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-474421"/>
            <a:ext cx="9412472" cy="4876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BED5C8E-2960-CF0D-A09C-A9733AB72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04900"/>
            <a:ext cx="16653035" cy="9000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DE005-3283-D96B-8709-8B941F57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1800" y="2933700"/>
            <a:ext cx="13258801" cy="10204787"/>
          </a:xfrm>
        </p:spPr>
        <p:txBody>
          <a:bodyPr/>
          <a:lstStyle/>
          <a:p>
            <a:r>
              <a:rPr lang="en-IN" sz="5400" dirty="0"/>
              <a:t>UNDERSTANDING THE </a:t>
            </a:r>
            <a:r>
              <a:rPr lang="en-IN" sz="5400" dirty="0">
                <a:solidFill>
                  <a:schemeClr val="tx1"/>
                </a:solidFill>
                <a:highlight>
                  <a:srgbClr val="FFFF00"/>
                </a:highlight>
              </a:rPr>
              <a:t>PROBLEM </a:t>
            </a:r>
          </a:p>
          <a:p>
            <a:endParaRPr lang="en-IN" sz="4000" dirty="0"/>
          </a:p>
          <a:p>
            <a:r>
              <a:rPr lang="en-IN" sz="4000" dirty="0"/>
              <a:t> </a:t>
            </a:r>
          </a:p>
          <a:p>
            <a:r>
              <a:rPr lang="en-IN" sz="2400" dirty="0"/>
              <a:t>.Traditional campus complaint mechanisms fail students, wardens, and management daily through manual friction and complete lack of tracking.</a:t>
            </a:r>
          </a:p>
          <a:p>
            <a:pPr lvl="0"/>
            <a:endParaRPr lang="en-IN" sz="2400" b="1" dirty="0"/>
          </a:p>
          <a:p>
            <a:pPr lvl="0"/>
            <a:r>
              <a:rPr lang="en-IN" sz="2400" b="1" dirty="0"/>
              <a:t>.The Situation:</a:t>
            </a:r>
            <a:r>
              <a:rPr lang="en-IN" sz="2400" dirty="0"/>
              <a:t> Campus issues (broken fans, leaking taps, Wi-Fi failures) are reported via scattered, unmonitored channels like WhatsApp or verbal complaints.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.The Gap:</a:t>
            </a:r>
            <a:r>
              <a:rPr lang="en-IN" sz="2400" dirty="0"/>
              <a:t> No single record, zero accountability, and no timeline for resolution.</a:t>
            </a:r>
          </a:p>
          <a:p>
            <a:pPr lvl="0"/>
            <a:r>
              <a:rPr lang="en-IN" sz="2400" b="1" dirty="0"/>
              <a:t>The Consequence:</a:t>
            </a:r>
            <a:r>
              <a:rPr lang="en-IN" sz="2400" dirty="0"/>
              <a:t> Complaints get lost in a "black hole," trust erodes, and minor issues escalate into costly or dangerous hazards.</a:t>
            </a:r>
          </a:p>
          <a:p>
            <a:br>
              <a:rPr lang="en-IN" sz="4000" dirty="0"/>
            </a:br>
            <a:endParaRPr lang="en-IN" sz="4000" dirty="0"/>
          </a:p>
          <a:p>
            <a:br>
              <a:rPr lang="en-IN" sz="4000" dirty="0"/>
            </a:br>
            <a:endParaRPr lang="en-IN" sz="4000" dirty="0"/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6856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3742-21EC-D278-9CC7-27F6B381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538" y="1104900"/>
            <a:ext cx="14093874" cy="830997"/>
          </a:xfrm>
        </p:spPr>
        <p:txBody>
          <a:bodyPr/>
          <a:lstStyle/>
          <a:p>
            <a:r>
              <a:rPr lang="en-IN" sz="5400" dirty="0"/>
              <a:t>THE PROBLEM:- </a:t>
            </a:r>
            <a:r>
              <a:rPr lang="en-IN" sz="5400" dirty="0">
                <a:solidFill>
                  <a:schemeClr val="tx1"/>
                </a:solidFill>
                <a:highlight>
                  <a:srgbClr val="FFFF00"/>
                </a:highlight>
              </a:rPr>
              <a:t>3 LAYER FRICTION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7271C-F040-3A5E-7ABA-38994D0DD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AAEB2-AB28-9B5D-9311-6032EC2F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48" y="3086100"/>
            <a:ext cx="15540552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8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F9B2-ED6B-E512-32E6-6D300C01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66700"/>
            <a:ext cx="11576149" cy="939800"/>
          </a:xfrm>
        </p:spPr>
        <p:txBody>
          <a:bodyPr/>
          <a:lstStyle/>
          <a:p>
            <a:r>
              <a:rPr lang="en-IN" dirty="0"/>
              <a:t>THE SOLUTION:-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709A15-D73E-CB1A-A28A-011C09919A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00200" y="4533900"/>
                <a:ext cx="14790419" cy="4680436"/>
              </a:xfrm>
            </p:spPr>
            <p:txBody>
              <a:bodyPr/>
              <a:lstStyle/>
              <a:p>
                <a:r>
                  <a:rPr lang="en-IN" b="1" dirty="0"/>
                  <a:t>A Centralized, Closed-Loop Campus Maintenance Engine</a:t>
                </a:r>
                <a:endParaRPr lang="en-IN" dirty="0"/>
              </a:p>
              <a:p>
                <a:pPr lvl="0"/>
                <a:r>
                  <a:rPr lang="en-IN" b="1" dirty="0"/>
                  <a:t>Snap &amp; Report:</a:t>
                </a:r>
                <a:r>
                  <a:rPr lang="en-IN" dirty="0"/>
                  <a:t> Log any campus issue in under 15 seconds with photo &amp; location.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Smart Routing:</a:t>
                </a:r>
                <a:r>
                  <a:rPr lang="en-IN" dirty="0"/>
                  <a:t> Tickets are automatically assigned to the responsible department/warden.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Total Transparency:</a:t>
                </a:r>
                <a:r>
                  <a:rPr lang="en-IN" dirty="0"/>
                  <a:t> Real-time status updates (Reported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In Progress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Resolved) with photo proof upon completion.</a:t>
                </a:r>
              </a:p>
              <a:p>
                <a:endParaRPr lang="en-IN" baseline="-25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709A15-D73E-CB1A-A28A-011C09919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00200" y="4533900"/>
                <a:ext cx="14790419" cy="4680436"/>
              </a:xfrm>
              <a:blipFill>
                <a:blip r:embed="rId2"/>
                <a:stretch>
                  <a:fillRect l="-1731" t="-2865" r="-1154" b="-2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C38DC18-3FD8-BCA2-7A50-9A648E576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45303"/>
            <a:ext cx="1118385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E835-3B0B-07B6-7847-1E2E39A5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309" y="1599757"/>
            <a:ext cx="6629400" cy="830997"/>
          </a:xfrm>
        </p:spPr>
        <p:txBody>
          <a:bodyPr/>
          <a:lstStyle/>
          <a:p>
            <a:r>
              <a:rPr lang="en-IN" sz="5400" dirty="0"/>
              <a:t>THE </a:t>
            </a:r>
            <a:r>
              <a:rPr lang="en-IN" sz="5400" dirty="0">
                <a:solidFill>
                  <a:srgbClr val="FFFF00"/>
                </a:solidFill>
              </a:rPr>
              <a:t>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CDD28-6136-7F80-5241-D4A7AB54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3543300"/>
            <a:ext cx="14790419" cy="4349909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Student Logs Issue:-</a:t>
            </a:r>
            <a:r>
              <a:rPr lang="en-IN" sz="3200" dirty="0"/>
              <a:t> Selects category, adds photo + room/lab number.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Auto-Assignment:-</a:t>
            </a:r>
            <a:r>
              <a:rPr lang="en-IN" sz="3200" dirty="0"/>
              <a:t> System notifies the technician/warden with a resolution timer.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Verification &amp; Feedback:-</a:t>
            </a:r>
            <a:r>
              <a:rPr lang="en-IN" sz="3200" dirty="0"/>
              <a:t> Staff uploads photo of fixed issue; student confirms closure.</a:t>
            </a:r>
          </a:p>
          <a:p>
            <a:endParaRPr lang="en-IN" sz="4000" baseline="-25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37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7D6F-6521-4633-D806-3F7547C6C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14500"/>
            <a:ext cx="11576149" cy="738664"/>
          </a:xfrm>
        </p:spPr>
        <p:txBody>
          <a:bodyPr/>
          <a:lstStyle/>
          <a:p>
            <a:r>
              <a:rPr lang="en-IN" sz="4800" dirty="0"/>
              <a:t>TARGET </a:t>
            </a:r>
            <a:r>
              <a:rPr lang="en-IN" sz="4800" dirty="0">
                <a:solidFill>
                  <a:srgbClr val="FFFF00"/>
                </a:solidFill>
              </a:rPr>
              <a:t>AUDIENCE </a:t>
            </a:r>
            <a:r>
              <a:rPr lang="en-IN" sz="4800" dirty="0">
                <a:solidFill>
                  <a:srgbClr val="FFFF00"/>
                </a:solidFill>
                <a:highlight>
                  <a:srgbClr val="000000"/>
                </a:highlight>
              </a:rPr>
              <a:t>AND IMPACT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949B6-E101-808E-A813-3CCE21E1E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790" y="2933700"/>
            <a:ext cx="14790419" cy="6601807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Students:</a:t>
            </a:r>
            <a:r>
              <a:rPr lang="en-IN" sz="3200" dirty="0"/>
              <a:t> 100% visibility, faster resolution, and improved living conditions.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Maintenance Staff:</a:t>
            </a:r>
            <a:r>
              <a:rPr lang="en-IN" sz="3200" dirty="0"/>
              <a:t> Organized job queues, clear priority levels, and reduced repeated calls.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Campus Admin:</a:t>
            </a:r>
            <a:r>
              <a:rPr lang="en-IN" sz="3200" dirty="0"/>
              <a:t> Data-driven maintenance budgeting and complete operational control.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Visual Tip:</a:t>
            </a:r>
            <a:r>
              <a:rPr lang="en-IN" sz="3200" dirty="0"/>
              <a:t> Simple 3-column table </a:t>
            </a:r>
            <a:r>
              <a:rPr lang="en-IN" sz="3200" dirty="0" err="1"/>
              <a:t>ya</a:t>
            </a:r>
            <a:r>
              <a:rPr lang="en-IN" sz="3200" dirty="0"/>
              <a:t> 3 cards (Students | Staff | Admin).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96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10000" y="1333500"/>
            <a:ext cx="9067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8060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TECHNICAL </a:t>
            </a:r>
            <a:r>
              <a:rPr lang="en-US" sz="4800" dirty="0">
                <a:solidFill>
                  <a:srgbClr val="FFFF00"/>
                </a:solidFill>
              </a:rPr>
              <a:t>STRATEGY</a:t>
            </a:r>
            <a:endParaRPr sz="4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C4451-6F88-9385-C68F-3335A1A13481}"/>
              </a:ext>
            </a:extLst>
          </p:cNvPr>
          <p:cNvSpPr txBox="1"/>
          <p:nvPr/>
        </p:nvSpPr>
        <p:spPr>
          <a:xfrm>
            <a:off x="4572000" y="49588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all-in-one platform designed to turn your ideas into reality.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EC9CE-CEA4-E2F3-B01D-A2711793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5" y="2247900"/>
            <a:ext cx="18119929" cy="796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6400" y="1638300"/>
            <a:ext cx="16230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I</a:t>
            </a:r>
            <a:r>
              <a:rPr lang="en-US" spc="-385" dirty="0"/>
              <a:t>MPACT AND BENEFITS </a:t>
            </a:r>
            <a:r>
              <a:rPr lang="en-US" spc="-385" dirty="0">
                <a:solidFill>
                  <a:srgbClr val="FFFF00"/>
                </a:solidFill>
              </a:rPr>
              <a:t>ENVISAGED</a:t>
            </a:r>
            <a:endParaRPr spc="-320" dirty="0">
              <a:solidFill>
                <a:srgbClr val="FFFF00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380689" y="3471001"/>
            <a:ext cx="14790419" cy="424154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325110">
              <a:lnSpc>
                <a:spcPts val="3529"/>
              </a:lnSpc>
              <a:spcBef>
                <a:spcPts val="575"/>
              </a:spcBef>
            </a:pPr>
            <a:endParaRPr lang="en-IN" spc="-280" dirty="0"/>
          </a:p>
          <a:p>
            <a:pPr marL="12700" marR="5325110">
              <a:lnSpc>
                <a:spcPts val="3529"/>
              </a:lnSpc>
              <a:spcBef>
                <a:spcPts val="575"/>
              </a:spcBef>
            </a:pPr>
            <a:r>
              <a:rPr lang="en-IN" spc="-330" dirty="0"/>
              <a:t>. </a:t>
            </a:r>
            <a:r>
              <a:rPr spc="-330" dirty="0"/>
              <a:t>Key</a:t>
            </a:r>
            <a:r>
              <a:rPr spc="-160" dirty="0"/>
              <a:t> </a:t>
            </a:r>
            <a:r>
              <a:rPr spc="-270" dirty="0"/>
              <a:t>benefits</a:t>
            </a:r>
            <a:r>
              <a:rPr spc="-160" dirty="0"/>
              <a:t> </a:t>
            </a:r>
            <a:r>
              <a:rPr spc="-265" dirty="0"/>
              <a:t>for</a:t>
            </a:r>
            <a:r>
              <a:rPr spc="-160" dirty="0"/>
              <a:t> </a:t>
            </a:r>
            <a:r>
              <a:rPr spc="-325" dirty="0"/>
              <a:t>users,</a:t>
            </a:r>
            <a:r>
              <a:rPr spc="-155" dirty="0"/>
              <a:t> </a:t>
            </a:r>
            <a:r>
              <a:rPr spc="-260" dirty="0"/>
              <a:t>stakeholders,</a:t>
            </a:r>
            <a:r>
              <a:rPr spc="-160" dirty="0"/>
              <a:t> </a:t>
            </a:r>
            <a:r>
              <a:rPr spc="-215" dirty="0"/>
              <a:t>or</a:t>
            </a:r>
            <a:r>
              <a:rPr spc="-160" dirty="0"/>
              <a:t> </a:t>
            </a:r>
            <a:r>
              <a:rPr spc="-215" dirty="0"/>
              <a:t>society.</a:t>
            </a:r>
            <a:endParaRPr lang="en-IN" spc="-215" dirty="0"/>
          </a:p>
          <a:p>
            <a:pPr marL="12700" marR="5325110">
              <a:lnSpc>
                <a:spcPts val="3529"/>
              </a:lnSpc>
              <a:spcBef>
                <a:spcPts val="575"/>
              </a:spcBef>
            </a:pPr>
            <a:endParaRPr spc="-215" dirty="0"/>
          </a:p>
          <a:p>
            <a:pPr marL="12700">
              <a:lnSpc>
                <a:spcPts val="3254"/>
              </a:lnSpc>
            </a:pPr>
            <a:r>
              <a:rPr lang="en-IN" spc="-290" dirty="0"/>
              <a:t>. </a:t>
            </a:r>
            <a:r>
              <a:rPr spc="-290" dirty="0"/>
              <a:t>Potential</a:t>
            </a:r>
            <a:r>
              <a:rPr spc="-150" dirty="0"/>
              <a:t> </a:t>
            </a:r>
            <a:r>
              <a:rPr spc="-229" dirty="0"/>
              <a:t>improvements</a:t>
            </a:r>
            <a:r>
              <a:rPr spc="-145" dirty="0"/>
              <a:t> </a:t>
            </a:r>
            <a:r>
              <a:rPr spc="-220" dirty="0"/>
              <a:t>in</a:t>
            </a:r>
            <a:r>
              <a:rPr spc="-145" dirty="0"/>
              <a:t> </a:t>
            </a:r>
            <a:r>
              <a:rPr spc="-210" dirty="0"/>
              <a:t>efficiency,</a:t>
            </a:r>
            <a:r>
              <a:rPr spc="-145" dirty="0"/>
              <a:t> </a:t>
            </a:r>
            <a:r>
              <a:rPr spc="-254" dirty="0"/>
              <a:t>accessibility,</a:t>
            </a:r>
            <a:r>
              <a:rPr spc="-145" dirty="0"/>
              <a:t> </a:t>
            </a:r>
            <a:r>
              <a:rPr spc="-265" dirty="0"/>
              <a:t>sustainability,</a:t>
            </a:r>
            <a:r>
              <a:rPr spc="-150" dirty="0"/>
              <a:t> </a:t>
            </a:r>
            <a:r>
              <a:rPr spc="-215" dirty="0"/>
              <a:t>or</a:t>
            </a:r>
            <a:r>
              <a:rPr spc="-145" dirty="0"/>
              <a:t> </a:t>
            </a:r>
            <a:r>
              <a:rPr spc="-110" dirty="0"/>
              <a:t>cost-</a:t>
            </a:r>
          </a:p>
          <a:p>
            <a:pPr marL="12700">
              <a:lnSpc>
                <a:spcPts val="3525"/>
              </a:lnSpc>
            </a:pPr>
            <a:r>
              <a:rPr spc="-285" dirty="0"/>
              <a:t>effectiveness.</a:t>
            </a:r>
            <a:endParaRPr lang="en-IN" spc="-285" dirty="0"/>
          </a:p>
          <a:p>
            <a:pPr marL="12700">
              <a:lnSpc>
                <a:spcPts val="3525"/>
              </a:lnSpc>
            </a:pPr>
            <a:endParaRPr spc="-285" dirty="0"/>
          </a:p>
          <a:p>
            <a:pPr marL="12700">
              <a:lnSpc>
                <a:spcPts val="3745"/>
              </a:lnSpc>
            </a:pPr>
            <a:r>
              <a:rPr lang="en-IN" spc="-170" dirty="0"/>
              <a:t>. </a:t>
            </a:r>
            <a:r>
              <a:rPr spc="-170" dirty="0"/>
              <a:t>Long-</a:t>
            </a:r>
            <a:r>
              <a:rPr spc="-275" dirty="0"/>
              <a:t>term</a:t>
            </a:r>
            <a:r>
              <a:rPr spc="-145" dirty="0"/>
              <a:t> </a:t>
            </a:r>
            <a:r>
              <a:rPr spc="-180" dirty="0"/>
              <a:t>value</a:t>
            </a:r>
            <a:r>
              <a:rPr spc="-140" dirty="0"/>
              <a:t> </a:t>
            </a:r>
            <a:r>
              <a:rPr spc="-110" dirty="0"/>
              <a:t>and</a:t>
            </a:r>
            <a:r>
              <a:rPr spc="-140" dirty="0"/>
              <a:t> </a:t>
            </a:r>
            <a:r>
              <a:rPr spc="-240" dirty="0"/>
              <a:t>scalability</a:t>
            </a:r>
            <a:r>
              <a:rPr spc="-140" dirty="0"/>
              <a:t> </a:t>
            </a:r>
            <a:r>
              <a:rPr spc="-250" dirty="0"/>
              <a:t>of</a:t>
            </a:r>
            <a:r>
              <a:rPr spc="-145" dirty="0"/>
              <a:t> </a:t>
            </a:r>
            <a:r>
              <a:rPr spc="-275" dirty="0"/>
              <a:t>the</a:t>
            </a:r>
            <a:r>
              <a:rPr spc="-140" dirty="0"/>
              <a:t> </a:t>
            </a:r>
            <a:r>
              <a:rPr spc="-280" dirty="0"/>
              <a:t>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CC86-F004-C526-5AD3-1561CD41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925" y="1648212"/>
            <a:ext cx="11576149" cy="1231106"/>
          </a:xfrm>
        </p:spPr>
        <p:txBody>
          <a:bodyPr/>
          <a:lstStyle/>
          <a:p>
            <a:r>
              <a:rPr lang="en-IN" sz="4000" dirty="0"/>
              <a:t>HOW THIS SOLVES </a:t>
            </a:r>
            <a:r>
              <a:rPr lang="en-IN" sz="4000" dirty="0">
                <a:solidFill>
                  <a:srgbClr val="FFFF00"/>
                </a:solidFill>
              </a:rPr>
              <a:t>THE PROBLEM?</a:t>
            </a:r>
            <a:br>
              <a:rPr lang="en-IN" sz="4000" dirty="0">
                <a:solidFill>
                  <a:srgbClr val="FFFF00"/>
                </a:solidFill>
              </a:rPr>
            </a:br>
            <a:endParaRPr lang="en-IN" sz="4000" dirty="0">
              <a:solidFill>
                <a:srgbClr val="FFFF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8729E-90AF-E89D-CC03-8985B913C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AD70-B77B-5778-A788-B3759166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3314700"/>
            <a:ext cx="14894757" cy="57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8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4114800" y="1485900"/>
            <a:ext cx="87770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395" dirty="0">
                <a:solidFill>
                  <a:srgbClr val="FFFF00"/>
                </a:solidFill>
              </a:rPr>
              <a:t>WHY</a:t>
            </a:r>
            <a:r>
              <a:rPr lang="en-IN" spc="-395" dirty="0"/>
              <a:t> CHOOSE US</a:t>
            </a:r>
            <a:r>
              <a:rPr spc="-420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54385-2289-F650-B646-19476580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26" y="3314700"/>
            <a:ext cx="15114436" cy="5096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2B57EC-4838-AA2D-4397-1543A5DD5C67}"/>
              </a:ext>
            </a:extLst>
          </p:cNvPr>
          <p:cNvSpPr txBox="1"/>
          <p:nvPr/>
        </p:nvSpPr>
        <p:spPr>
          <a:xfrm>
            <a:off x="4572000" y="482033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80% </a:t>
            </a:r>
            <a:r>
              <a:rPr lang="en-IN" dirty="0"/>
              <a:t>Reduces repair resolutio</a:t>
            </a:r>
            <a:r>
              <a:rPr lang="en-IN" b="1" dirty="0"/>
              <a:t>Fa80% Faster Response Time:</a:t>
            </a:r>
            <a:r>
              <a:rPr lang="en-IN" dirty="0"/>
              <a:t> Reduces repair resolution turnarounds from weeks to </a:t>
            </a:r>
            <a:r>
              <a:rPr lang="en-IN" b="1" dirty="0"/>
              <a:t>Time:</a:t>
            </a:r>
            <a:r>
              <a:rPr lang="en-IN" dirty="0"/>
              <a:t> n turnarounds from weeks 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FE557-E458-2888-42A1-5B1EEC767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1049686" y="5485578"/>
            <a:ext cx="36779886" cy="347207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9096D-DD48-6A97-2B9E-94CE1D3D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776578"/>
            <a:ext cx="18135600" cy="74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8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5925" y="1648212"/>
            <a:ext cx="1157614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5675">
              <a:lnSpc>
                <a:spcPct val="100000"/>
              </a:lnSpc>
              <a:spcBef>
                <a:spcPts val="100"/>
              </a:spcBef>
            </a:pPr>
            <a:endParaRPr sz="4000" spc="-107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08C86-FB08-74B2-6A01-E48342DAA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599" y="-27864"/>
            <a:ext cx="9448800" cy="4833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D8693-4651-A558-27FF-DC0F574BD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653" y="4761387"/>
            <a:ext cx="8991600" cy="5547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FF522A-FDE4-3EB7-8833-602D9E82CE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5228"/>
            <a:ext cx="9448801" cy="55129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210E68-3DEE-2B36-8295-3ECDBE96F712}"/>
              </a:ext>
            </a:extLst>
          </p:cNvPr>
          <p:cNvSpPr txBox="1"/>
          <p:nvPr/>
        </p:nvSpPr>
        <p:spPr>
          <a:xfrm>
            <a:off x="8305800" y="138717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LOGIN PAGE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8610C-8F53-76CD-05CA-CC28C2748BF8}"/>
              </a:ext>
            </a:extLst>
          </p:cNvPr>
          <p:cNvSpPr txBox="1"/>
          <p:nvPr/>
        </p:nvSpPr>
        <p:spPr>
          <a:xfrm rot="5400000">
            <a:off x="12727633" y="1032286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STUDENT 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60804-BFC5-DE20-6487-F4B8357F9222}"/>
              </a:ext>
            </a:extLst>
          </p:cNvPr>
          <p:cNvSpPr txBox="1"/>
          <p:nvPr/>
        </p:nvSpPr>
        <p:spPr>
          <a:xfrm rot="5400000">
            <a:off x="4502665" y="1001733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ADMIN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14720" y="4674220"/>
            <a:ext cx="19583399" cy="5620400"/>
            <a:chOff x="-10" y="5554617"/>
            <a:chExt cx="18287999" cy="4709523"/>
          </a:xfrm>
        </p:grpSpPr>
        <p:pic>
          <p:nvPicPr>
            <p:cNvPr id="3" name="object 3"/>
            <p:cNvPicPr/>
            <p:nvPr/>
          </p:nvPicPr>
          <p:blipFill>
            <a:blip r:embed="rId3" cstate="print">
              <a:alphaModFix amt="70000"/>
            </a:blip>
            <a:stretch>
              <a:fillRect/>
            </a:stretch>
          </p:blipFill>
          <p:spPr>
            <a:xfrm>
              <a:off x="-10" y="6539866"/>
              <a:ext cx="18287999" cy="37242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8972" y="5554617"/>
              <a:ext cx="15530036" cy="134997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/>
          <p:nvPr/>
        </p:nvSpPr>
        <p:spPr>
          <a:xfrm>
            <a:off x="6000283" y="1167023"/>
            <a:ext cx="11445826" cy="5850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T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H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A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N</a:t>
            </a:r>
            <a:r>
              <a:rPr lang="en-IN"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 </a:t>
            </a:r>
            <a:r>
              <a:rPr sz="9000" spc="-160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K</a:t>
            </a:r>
            <a:r>
              <a:rPr sz="9000" spc="-49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</a:t>
            </a:r>
            <a:r>
              <a:rPr lang="en-IN" sz="9000" spc="-490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</a:t>
            </a:r>
            <a:r>
              <a:rPr sz="9000" spc="-1235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YO</a:t>
            </a:r>
            <a:r>
              <a:rPr lang="en-IN" sz="9000" spc="-1235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 </a:t>
            </a:r>
            <a:r>
              <a:rPr sz="9000" spc="-1235" dirty="0">
                <a:solidFill>
                  <a:srgbClr val="FFFFFF"/>
                </a:solidFill>
                <a:latin typeface="Algerian" panose="04020705040A02060702" pitchFamily="82" charset="0"/>
                <a:cs typeface="Arial Black"/>
              </a:rPr>
              <a:t>U</a:t>
            </a: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9000" spc="-1235" dirty="0">
              <a:solidFill>
                <a:srgbClr val="FFFFFF"/>
              </a:solidFill>
              <a:latin typeface="Algerian" panose="04020705040A02060702" pitchFamily="82" charset="0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600" spc="-150" dirty="0">
              <a:solidFill>
                <a:srgbClr val="FFFFFF"/>
              </a:solidFill>
              <a:latin typeface="+mj-lt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0" y="2683377"/>
            <a:ext cx="30480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Sponsored</a:t>
            </a:r>
            <a:r>
              <a:rPr sz="30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endParaRPr sz="3000" dirty="0">
              <a:latin typeface="Lucida Sans Unicode"/>
              <a:cs typeface="Lucida Sans Unicod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16228-C472-045A-D505-2BED32259CEA}"/>
              </a:ext>
            </a:extLst>
          </p:cNvPr>
          <p:cNvSpPr txBox="1"/>
          <p:nvPr/>
        </p:nvSpPr>
        <p:spPr>
          <a:xfrm>
            <a:off x="11430001" y="6057901"/>
            <a:ext cx="8001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solidFill>
                <a:srgbClr val="FFFF00"/>
              </a:solidFill>
            </a:endParaRPr>
          </a:p>
          <a:p>
            <a:pPr algn="l"/>
            <a:r>
              <a:rPr lang="en-IN" sz="4000" b="1" dirty="0">
                <a:solidFill>
                  <a:schemeClr val="bg2">
                    <a:lumMod val="90000"/>
                  </a:schemeClr>
                </a:solidFill>
              </a:rPr>
              <a:t>BY - TEAM CODE QUEST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Kripa Mehndiratta, Avinash Dubey, Sristi Kumari,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Akash Kumar Gautam, Saumya Kumari</a:t>
            </a: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  <a:p>
            <a:pPr algn="l"/>
            <a:endParaRPr lang="en-IN" sz="1200" b="1" dirty="0">
              <a:highlight>
                <a:srgbClr val="C0C0C0"/>
              </a:highlight>
              <a:latin typeface="Bahnschrift SemiLigh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</TotalTime>
  <Words>432</Words>
  <Application>Microsoft Office PowerPoint</Application>
  <PresentationFormat>Custom</PresentationFormat>
  <Paragraphs>67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Yu Gothic Light</vt:lpstr>
      <vt:lpstr>Algerian</vt:lpstr>
      <vt:lpstr>Aptos</vt:lpstr>
      <vt:lpstr>Arial</vt:lpstr>
      <vt:lpstr>Arial Black</vt:lpstr>
      <vt:lpstr>Bahnschrift</vt:lpstr>
      <vt:lpstr>Bahnschrift SemiLight</vt:lpstr>
      <vt:lpstr>Calibri</vt:lpstr>
      <vt:lpstr>Cambria Math</vt:lpstr>
      <vt:lpstr>Kristen ITC</vt:lpstr>
      <vt:lpstr>Lucida Sans Unicode</vt:lpstr>
      <vt:lpstr>Office Theme</vt:lpstr>
      <vt:lpstr>PowerPoint Presentation</vt:lpstr>
      <vt:lpstr>PowerPoint Presentation</vt:lpstr>
      <vt:lpstr>PowerPoint Presentation</vt:lpstr>
      <vt:lpstr>THE PROBLEM:- 3 LAYER FRICTION</vt:lpstr>
      <vt:lpstr>THE SOLUTION:-</vt:lpstr>
      <vt:lpstr>THE WORKING</vt:lpstr>
      <vt:lpstr>TARGET AUDIENCE AND IMPACT</vt:lpstr>
      <vt:lpstr>TECHNICAL STRATEGY</vt:lpstr>
      <vt:lpstr>IMPACT AND BENEFITS ENVISAGED</vt:lpstr>
      <vt:lpstr>HOW THIS SOLVES THE PROBLEM? </vt:lpstr>
      <vt:lpstr>WHY CHOOSE US?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SOCF PPT.pptx</dc:title>
  <dc:creator>Divya Jalan</dc:creator>
  <cp:keywords>DAHPPGYssJ8,BAHGJIcWLmw</cp:keywords>
  <cp:lastModifiedBy>Kushi Mehndiratta</cp:lastModifiedBy>
  <cp:revision>5</cp:revision>
  <dcterms:created xsi:type="dcterms:W3CDTF">2026-07-30T10:07:41Z</dcterms:created>
  <dcterms:modified xsi:type="dcterms:W3CDTF">2026-07-31T06:58:21Z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2026-07-30T00:00:00Z</vt:filetime>
  </property>
  <property fmtid="{D5CDD505-2E9C-101B-9397-08002B2CF9AE}" pid="6" name="Producer">
    <vt:lpwstr>Canva</vt:lpwstr>
  </property>
</Properties>
</file>